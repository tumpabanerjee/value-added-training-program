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2" r:id="rId9"/>
    <p:sldId id="263" r:id="rId10"/>
    <p:sldId id="264" r:id="rId11"/>
    <p:sldId id="276" r:id="rId12"/>
    <p:sldId id="265" r:id="rId13"/>
    <p:sldId id="266" r:id="rId14"/>
    <p:sldId id="267" r:id="rId15"/>
    <p:sldId id="277" r:id="rId16"/>
    <p:sldId id="268" r:id="rId17"/>
    <p:sldId id="269" r:id="rId18"/>
    <p:sldId id="270" r:id="rId19"/>
    <p:sldId id="278" r:id="rId20"/>
    <p:sldId id="271" r:id="rId21"/>
    <p:sldId id="272" r:id="rId22"/>
    <p:sldId id="273" r:id="rId23"/>
    <p:sldId id="274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07B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36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2684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9EE57-8EB4-AA0D-38DD-CC87E5F40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AECF05F-4833-91F9-39E8-C7C8E5BBE5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E1E8A1-CBA6-CA96-3236-30361C8755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D1AF97-377C-C9D8-397E-8610C70A952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9713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0CFE-FBC7-DD93-D138-99FF8B47D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72E1805-730B-5788-400D-52E5626A32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BBC55B6-DA59-7CBA-E1D3-2E7DD80DD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40B3B-B4D1-E78A-2F68-16746802EA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0484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D95D2-EB3B-D6F7-9064-4949B1E71F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8E697-E7F0-7629-3E30-3B7F530C3A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F5FC41-1643-EC15-93FE-671D330CB5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7DAF73-0878-C60B-22E5-9E3220D3F9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9311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3519B-102B-C25C-8034-075571E41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163635-D238-9918-3814-B254018648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CBA73E-2B77-5E82-BC75-B8FB8F9948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EEA19E-B8FC-1D0B-5A38-EB75C7648B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495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06640" y="0"/>
            <a:ext cx="1737360" cy="51435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5943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5A623"/>
                </a:solidFill>
              </a:rPr>
              <a:t>Python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50876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</a:rPr>
              <a:t>Functions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457200" y="251460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5176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</a:rPr>
              <a:t>Built-in  •  User-Defined  •  Scope &amp; Namespace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</a:rPr>
              <a:t>Modular Programs  •  Recursive Functions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A99"/>
                </a:solidFill>
              </a:rPr>
              <a:t>BTech — Electrical, Electronics &amp; Civil Engineering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023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2-Hour Lecture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Today's Agenda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77240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772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914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What are Functions?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Why we need them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00600" y="777240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777240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7772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394960" y="91440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Built-in Functions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94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print(), len(), type(), range() and more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039112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039112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03911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0120" y="21762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User-Defined Functions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60120" y="25877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def keyword, parameters, return values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2039112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039112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039112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394960" y="217627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Scope &amp; Namespace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94960" y="2587752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Local, global, LEGB rule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300984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300984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30098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60120" y="34381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Modular Programs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60120" y="38496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Breaking code into reusable pieces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00600" y="3300984"/>
            <a:ext cx="4114800" cy="1097280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00600" y="3300984"/>
            <a:ext cx="502920" cy="109728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00600" y="3300984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06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5394960" y="343814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Recursive Functions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94960" y="3849624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Functions that call themselves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is a Function?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INTRODUCTION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</a:rPr>
              <a:t>A function is a named block of reusable code that performs a specific task.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65760" y="160020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</a:rPr>
              <a:t>Avoids code repetition (DRY principle)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</a:rPr>
              <a:t>Makes programs easier to read &amp; debug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</a:rPr>
              <a:t>Allows team-based development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F3C"/>
                </a:solidFill>
              </a:rPr>
              <a:t>Functions are the building blocks of large software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3337560"/>
            <a:ext cx="5029200" cy="822960"/>
          </a:xfrm>
          <a:prstGeom prst="rect">
            <a:avLst/>
          </a:prstGeom>
          <a:solidFill>
            <a:srgbClr val="FFF8E7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832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0660A"/>
                </a:solidFill>
              </a:rPr>
              <a:t>💡  Real-world analogy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" y="3639312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An electrical relay is a function — give it an input signal, it performs an action, gives output. You use it many times without re-wiring it every time.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63540" y="1005840"/>
            <a:ext cx="1005840" cy="50292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63540" y="1005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F3C"/>
                </a:solidFill>
              </a:rPr>
              <a:t>Input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743700" y="1005840"/>
            <a:ext cx="1097280" cy="50292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3700" y="1005840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Function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15300" y="1005840"/>
            <a:ext cx="1005840" cy="50292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15300" y="100584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F3C"/>
                </a:solidFill>
              </a:rPr>
              <a:t>Output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69380" y="1257300"/>
            <a:ext cx="274320" cy="0"/>
          </a:xfrm>
          <a:prstGeom prst="line">
            <a:avLst/>
          </a:prstGeom>
          <a:noFill/>
          <a:ln w="25400">
            <a:solidFill>
              <a:srgbClr val="1E5FA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840980" y="1257300"/>
            <a:ext cx="274320" cy="0"/>
          </a:xfrm>
          <a:prstGeom prst="line">
            <a:avLst/>
          </a:prstGeom>
          <a:noFill/>
          <a:ln w="25400">
            <a:solidFill>
              <a:srgbClr val="1E5FA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1737360"/>
            <a:ext cx="3154680" cy="12801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870448" y="1810512"/>
            <a:ext cx="293522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"Hello, " + name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greet("Arjun")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print(result)   # Hello, Arjun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60720" y="31089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F3C"/>
                </a:solidFill>
              </a:rPr>
              <a:t>Function anatomy: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760720" y="3429000"/>
            <a:ext cx="502920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60720" y="3429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def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1928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</a:rPr>
              <a:t>keyword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7333488" y="3429000"/>
            <a:ext cx="502920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33488" y="3429000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greet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54696" y="342900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</a:rPr>
              <a:t>function name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760720" y="3776472"/>
            <a:ext cx="502920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60720" y="3776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name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281928" y="3776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</a:rPr>
              <a:t>parameter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33488" y="3776472"/>
            <a:ext cx="502920" cy="256032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33488" y="3776472"/>
            <a:ext cx="502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return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7854696" y="377647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D1F3C"/>
                </a:solidFill>
              </a:rPr>
              <a:t>output value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Built-in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BUILT-IN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F3C"/>
                </a:solidFill>
              </a:rPr>
              <a:t>Python ships with 70+ built-in functions — available without any import.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150876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0292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Display output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377440" y="1636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print('Voltage:', v)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508760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508760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554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92040" y="18562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Read user input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766560" y="1636776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 = input('Enter V: ')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2267712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226771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" y="2615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Length of sequence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77440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len([1,2,3])  → 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267712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267712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231343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2615184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Data type of value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66560" y="239572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type(3.14)  →  float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3026664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65760" y="3026664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02920" y="3374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Generate number sequence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37744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range(0, 10, 2)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54880" y="3026664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026664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92040" y="307238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int() / float()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92040" y="3374136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Type conversion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66560" y="315468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int('42')  →  42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785616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785616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831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abs()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0292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Absolute value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377440" y="3913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abs(-9.8)  →  9.8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754880" y="3785616"/>
            <a:ext cx="4114800" cy="658368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785616"/>
            <a:ext cx="54864" cy="65836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0" y="383133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 / min()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4892040" y="4133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</a:rPr>
              <a:t>Largest / smallest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6766560" y="3913632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2C6B9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max(3, 7, 2)  → 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Built-in: math &amp; random Modules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BUILT-IN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F3C"/>
                </a:solidFill>
              </a:rPr>
              <a:t>These modules extend Python's capabilities — import them before use.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463040"/>
            <a:ext cx="5120640" cy="2606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36192"/>
            <a:ext cx="4901184" cy="2459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math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random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math functions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print(math.sqrt(144))       # 12.0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print(math.pi)              # 3.14159...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print(math.floor(9.7))      # 9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print(math.ceil(9.2))       # 10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print(math.pow(2, 10))      # 1024.0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functions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print(random.randint(1, 6)) # Simulates dice roll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print(random.random())      # Float between 0 and 1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669280" y="1463040"/>
            <a:ext cx="3200400" cy="260604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Engineering Applications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806440" y="1920240"/>
            <a:ext cx="2971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⚡ sqrt() → RMS voltage calculation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📐 math.pi → Area of circular cross-section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🎲 random → Monte Carlo simulations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🔢 ceil/floor → Rounding sensor readings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0D1F3C"/>
                </a:solidFill>
              </a:rPr>
              <a:t>💡 pow() → Power dissipation (P = I²R)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6576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A99"/>
                </a:solidFill>
              </a:rPr>
              <a:t>💡  Tip: Use dir(math) in Python console to see all available functions!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will the following code print?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206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07592"/>
            <a:ext cx="39867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[10, 45, 3, 78, 22]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print(len(x))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print(max(x))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880360"/>
            <a:ext cx="3931920" cy="548640"/>
          </a:xfrm>
          <a:prstGeom prst="rect">
            <a:avLst/>
          </a:prstGeom>
          <a:solidFill>
            <a:schemeClr val="bg1"/>
          </a:solidFill>
          <a:ln w="9525">
            <a:solidFill>
              <a:srgbClr val="7030A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971800"/>
            <a:ext cx="36576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0" name="Text 8"/>
          <p:cNvSpPr/>
          <p:nvPr/>
        </p:nvSpPr>
        <p:spPr>
          <a:xfrm>
            <a:off x="53035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 78,  &lt;class 'list'&gt; 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28803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82312" y="2971800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951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 45,  &lt;class 'list'&gt;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5387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63016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 78,  &lt;class 'int'&gt;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5387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363016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— wrong usage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5BD2F-4224-32F5-2356-2A7D896A8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29CDE9F-81FA-46F8-44C4-29720A495FD6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F6DBAA4-74AD-07C5-6EEB-58D741DB3494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430006-1ADF-183E-DEC9-387BA9B9BF98}"/>
              </a:ext>
            </a:extLst>
          </p:cNvPr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1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41E30D5-BED3-8A05-8CCE-5A9A1AA5A5D1}"/>
              </a:ext>
            </a:extLst>
          </p:cNvPr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will the following code print?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A90D11-B228-7ED7-509A-C8DCF3B011F6}"/>
              </a:ext>
            </a:extLst>
          </p:cNvPr>
          <p:cNvSpPr/>
          <p:nvPr/>
        </p:nvSpPr>
        <p:spPr>
          <a:xfrm>
            <a:off x="548640" y="1234440"/>
            <a:ext cx="4206240" cy="14173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D0DA169-BBD3-F06D-8F08-1531ABE3CA00}"/>
              </a:ext>
            </a:extLst>
          </p:cNvPr>
          <p:cNvSpPr/>
          <p:nvPr/>
        </p:nvSpPr>
        <p:spPr>
          <a:xfrm>
            <a:off x="658368" y="1307592"/>
            <a:ext cx="39867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[10, 45, 3, 78, 22]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print(len(x))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print(max(x))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print(type(x))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9EFA711-6090-F5B7-3320-92E7C0BECB70}"/>
              </a:ext>
            </a:extLst>
          </p:cNvPr>
          <p:cNvSpPr/>
          <p:nvPr/>
        </p:nvSpPr>
        <p:spPr>
          <a:xfrm>
            <a:off x="457200" y="2880360"/>
            <a:ext cx="393192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BC72CA7-896B-9E64-9258-D4EA8E7315E2}"/>
              </a:ext>
            </a:extLst>
          </p:cNvPr>
          <p:cNvSpPr/>
          <p:nvPr/>
        </p:nvSpPr>
        <p:spPr>
          <a:xfrm>
            <a:off x="530352" y="297180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CA804E9-35B0-3457-97D4-47931766462C}"/>
              </a:ext>
            </a:extLst>
          </p:cNvPr>
          <p:cNvSpPr/>
          <p:nvPr/>
        </p:nvSpPr>
        <p:spPr>
          <a:xfrm>
            <a:off x="53035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3016B03E-FC45-6D6C-6AD8-D1E12CB4FE76}"/>
              </a:ext>
            </a:extLst>
          </p:cNvPr>
          <p:cNvSpPr/>
          <p:nvPr/>
        </p:nvSpPr>
        <p:spPr>
          <a:xfrm>
            <a:off x="98755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 78,  &lt;class 'list'&gt;  ✓</a:t>
            </a:r>
            <a:endParaRPr lang="en-US" sz="12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BBD4E109-1A6C-35DD-95FE-13082609A23F}"/>
              </a:ext>
            </a:extLst>
          </p:cNvPr>
          <p:cNvSpPr/>
          <p:nvPr/>
        </p:nvSpPr>
        <p:spPr>
          <a:xfrm>
            <a:off x="4709160" y="288036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E60BE693-C87C-05BF-4BED-C760CDD730E5}"/>
              </a:ext>
            </a:extLst>
          </p:cNvPr>
          <p:cNvSpPr/>
          <p:nvPr/>
        </p:nvSpPr>
        <p:spPr>
          <a:xfrm>
            <a:off x="4782312" y="2971800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9B078058-8286-594B-AEE2-174027111ECB}"/>
              </a:ext>
            </a:extLst>
          </p:cNvPr>
          <p:cNvSpPr/>
          <p:nvPr/>
        </p:nvSpPr>
        <p:spPr>
          <a:xfrm>
            <a:off x="4782312" y="29718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695A05CF-CB91-94EC-896C-E66FB9DA85AC}"/>
              </a:ext>
            </a:extLst>
          </p:cNvPr>
          <p:cNvSpPr/>
          <p:nvPr/>
        </p:nvSpPr>
        <p:spPr>
          <a:xfrm>
            <a:off x="5239512" y="29718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  45,  &lt;class 'list'&gt;</a:t>
            </a:r>
            <a:endParaRPr lang="en-US" sz="12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3302A63C-DD16-F779-1AF5-5714AB2EFC6E}"/>
              </a:ext>
            </a:extLst>
          </p:cNvPr>
          <p:cNvSpPr/>
          <p:nvPr/>
        </p:nvSpPr>
        <p:spPr>
          <a:xfrm>
            <a:off x="457200" y="35387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4A247D93-04DF-CCFE-8886-EB1009233B64}"/>
              </a:ext>
            </a:extLst>
          </p:cNvPr>
          <p:cNvSpPr/>
          <p:nvPr/>
        </p:nvSpPr>
        <p:spPr>
          <a:xfrm>
            <a:off x="530352" y="363016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075A09C0-8D35-16D0-12EB-FDA8F8DEF810}"/>
              </a:ext>
            </a:extLst>
          </p:cNvPr>
          <p:cNvSpPr/>
          <p:nvPr/>
        </p:nvSpPr>
        <p:spPr>
          <a:xfrm>
            <a:off x="53035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50D51A87-1A42-1331-C80F-808F0BC64F96}"/>
              </a:ext>
            </a:extLst>
          </p:cNvPr>
          <p:cNvSpPr/>
          <p:nvPr/>
        </p:nvSpPr>
        <p:spPr>
          <a:xfrm>
            <a:off x="987552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  78,  &lt;class 'int'&gt;</a:t>
            </a:r>
            <a:endParaRPr lang="en-US" sz="12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7E77A166-BA24-5056-C32E-FA0059E6AE3C}"/>
              </a:ext>
            </a:extLst>
          </p:cNvPr>
          <p:cNvSpPr/>
          <p:nvPr/>
        </p:nvSpPr>
        <p:spPr>
          <a:xfrm>
            <a:off x="4709160" y="353872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D7A3C670-25C1-7C01-978D-56FC90CDBEAC}"/>
              </a:ext>
            </a:extLst>
          </p:cNvPr>
          <p:cNvSpPr/>
          <p:nvPr/>
        </p:nvSpPr>
        <p:spPr>
          <a:xfrm>
            <a:off x="4782312" y="363016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B8ECC3EE-3F82-7059-3DAE-A2AFB0A8F7D8}"/>
              </a:ext>
            </a:extLst>
          </p:cNvPr>
          <p:cNvSpPr/>
          <p:nvPr/>
        </p:nvSpPr>
        <p:spPr>
          <a:xfrm>
            <a:off x="4782312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3A469EE-967A-6876-FA6F-DEE3E9FC9854}"/>
              </a:ext>
            </a:extLst>
          </p:cNvPr>
          <p:cNvSpPr/>
          <p:nvPr/>
        </p:nvSpPr>
        <p:spPr>
          <a:xfrm>
            <a:off x="5239512" y="363016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 — wrong usage</a:t>
            </a:r>
            <a:endParaRPr lang="en-US" sz="12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D711178-C025-2A47-8716-BA857A8955AF}"/>
              </a:ext>
            </a:extLst>
          </p:cNvPr>
          <p:cNvSpPr/>
          <p:nvPr/>
        </p:nvSpPr>
        <p:spPr>
          <a:xfrm>
            <a:off x="457200" y="437083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2FBE"/>
                </a:solidFill>
              </a:rPr>
              <a:t>Answer: A  —  len() gives count, max() finds largest, type() returns data type.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307771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User-Defined Functions — Syntax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USER-DEFINED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058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</a:rPr>
              <a:t>Syntax Structure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5029200" cy="228600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490472"/>
            <a:ext cx="48097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function_name(param1, param2):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"""Docstring — describe the function"""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body of the function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param1 + param2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result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Calling the function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= function_name(5, 3)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print(answer)   # 8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577840" y="100584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F3C"/>
                </a:solidFill>
              </a:rPr>
              <a:t>Key Keywords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1417320"/>
            <a:ext cx="914400" cy="38404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77840" y="1417320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0" y="14173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Declares a function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577840" y="1947672"/>
            <a:ext cx="914400" cy="384048"/>
          </a:xfrm>
          <a:prstGeom prst="rect">
            <a:avLst/>
          </a:prstGeom>
          <a:solidFill>
            <a:srgbClr val="D4A5FF"/>
          </a:solidFill>
          <a:ln w="12700">
            <a:solidFill>
              <a:srgbClr val="D4A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77840" y="1947672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 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583680" y="1947672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Parameters go here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2478024"/>
            <a:ext cx="914400" cy="384048"/>
          </a:xfrm>
          <a:prstGeom prst="rect">
            <a:avLst/>
          </a:prstGeom>
          <a:solidFill>
            <a:srgbClr val="7EC8E3"/>
          </a:solidFill>
          <a:ln w="12700">
            <a:solidFill>
              <a:srgbClr val="7EC8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77840" y="2478024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2478024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Colon ends the header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577840" y="3008376"/>
            <a:ext cx="914400" cy="384048"/>
          </a:xfrm>
          <a:prstGeom prst="rect">
            <a:avLst/>
          </a:prstGeom>
          <a:solidFill>
            <a:srgbClr val="7BC67E"/>
          </a:solidFill>
          <a:ln w="12700">
            <a:solidFill>
              <a:srgbClr val="7BC67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77840" y="3008376"/>
            <a:ext cx="914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583680" y="3008376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Sends value back to caller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Function Variants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133088"/>
            <a:ext cx="192024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No param, no return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468880" y="4133088"/>
            <a:ext cx="192024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888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With params only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0" y="4133088"/>
            <a:ext cx="192024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With return only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675120" y="4133088"/>
            <a:ext cx="1920240" cy="45720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413308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Params + return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Parameters &amp; Arguments — Types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USER-DEFINED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731520"/>
            <a:ext cx="4114800" cy="190195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731520"/>
            <a:ext cx="41148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731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Positional Arguments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115568"/>
            <a:ext cx="393192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188720"/>
            <a:ext cx="37124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power(base, exp):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base ** exp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print(power(2, 8))  # 256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</a:rPr>
              <a:t>▸ Matched by position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754880" y="731520"/>
            <a:ext cx="4114800" cy="190195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731520"/>
            <a:ext cx="41148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64608" y="73152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Default Arguments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1115568"/>
            <a:ext cx="393192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6048" y="1188720"/>
            <a:ext cx="37124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greet(name, msg="Hello"):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print(msg, name)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greet("Riya")         # Hello Riya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greet("Riya","Hi")   # Hi Riya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46320" y="237744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</a:rPr>
              <a:t>▸ Default used when not passed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743200"/>
            <a:ext cx="4114800" cy="190195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743200"/>
            <a:ext cx="41148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Keyword Arguments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393192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200400"/>
            <a:ext cx="37124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circuit(R, V, I):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V/R - I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circuit(V=12, R=4, I=1)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89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</a:rPr>
              <a:t>▸ Name = value, any order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2743200"/>
            <a:ext cx="4114800" cy="190195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0" y="2743200"/>
            <a:ext cx="4114800" cy="32004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64608" y="27432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*args (Variable)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3127248"/>
            <a:ext cx="393192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56048" y="3200400"/>
            <a:ext cx="371246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total(*readings):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sum(readings)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print(total(10,20,30,40)) # 100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4389120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A99"/>
                </a:solidFill>
              </a:rPr>
              <a:t>▸ Accepts any number of args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18">
            <a:extLst>
              <a:ext uri="{FF2B5EF4-FFF2-40B4-BE49-F238E27FC236}">
                <a16:creationId xmlns:a16="http://schemas.microsoft.com/office/drawing/2014/main" id="{A5B4C8CA-0036-435A-DC60-54E7A924F7FE}"/>
              </a:ext>
            </a:extLst>
          </p:cNvPr>
          <p:cNvSpPr/>
          <p:nvPr/>
        </p:nvSpPr>
        <p:spPr>
          <a:xfrm>
            <a:off x="4716780" y="272338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2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is the output of the following function call?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8368" y="1353312"/>
            <a:ext cx="39867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calc(a, b=5, c=10):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 + c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print(calc(1, c=2))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30352" y="2834640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87552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782312" y="2834640"/>
            <a:ext cx="36576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8231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239512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40156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0352" y="34930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87552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09160" y="340156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82312" y="34930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8231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39512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34240-41B6-0252-BA1D-A004168B80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B5CC39C-FD21-36A8-6407-2C88F3737C35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AD71780-A935-C4C1-02D9-DB66F707F0E6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EF46759-FBD1-8186-1293-2C00F73E36DD}"/>
              </a:ext>
            </a:extLst>
          </p:cNvPr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2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B22A5B-EC02-0D7A-B2A4-DA5ADCDF1390}"/>
              </a:ext>
            </a:extLst>
          </p:cNvPr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is the output of the following function call?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9DDCFAB-5A9E-B9D0-BC47-D5BEE9DA727D}"/>
              </a:ext>
            </a:extLst>
          </p:cNvPr>
          <p:cNvSpPr/>
          <p:nvPr/>
        </p:nvSpPr>
        <p:spPr>
          <a:xfrm>
            <a:off x="548640" y="1280160"/>
            <a:ext cx="4206240" cy="12344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0C4DACB-C707-610E-92BD-DB8EA54056B7}"/>
              </a:ext>
            </a:extLst>
          </p:cNvPr>
          <p:cNvSpPr/>
          <p:nvPr/>
        </p:nvSpPr>
        <p:spPr>
          <a:xfrm>
            <a:off x="658368" y="1353312"/>
            <a:ext cx="39867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calc(a, b=5, c=10):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 + c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print(calc(1, c=2))</a:t>
            </a:r>
            <a:endParaRPr lang="en-US" sz="1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92599A78-64D3-645B-82A4-7894B345541D}"/>
              </a:ext>
            </a:extLst>
          </p:cNvPr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F2083EE7-A1C2-9B46-487E-A5910BC9A690}"/>
              </a:ext>
            </a:extLst>
          </p:cNvPr>
          <p:cNvSpPr/>
          <p:nvPr/>
        </p:nvSpPr>
        <p:spPr>
          <a:xfrm>
            <a:off x="530352" y="2834640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0CD4DCF-C251-E773-8D07-314E0C057A31}"/>
              </a:ext>
            </a:extLst>
          </p:cNvPr>
          <p:cNvSpPr/>
          <p:nvPr/>
        </p:nvSpPr>
        <p:spPr>
          <a:xfrm>
            <a:off x="53035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D4496885-329D-43BC-EAF5-BDAAA6C96C6B}"/>
              </a:ext>
            </a:extLst>
          </p:cNvPr>
          <p:cNvSpPr/>
          <p:nvPr/>
        </p:nvSpPr>
        <p:spPr>
          <a:xfrm>
            <a:off x="987552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</a:t>
            </a:r>
            <a:endParaRPr lang="en-US" sz="14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6C1C4AE-BD84-B0E0-7C59-668B91890F9B}"/>
              </a:ext>
            </a:extLst>
          </p:cNvPr>
          <p:cNvSpPr/>
          <p:nvPr/>
        </p:nvSpPr>
        <p:spPr>
          <a:xfrm>
            <a:off x="4709160" y="2743200"/>
            <a:ext cx="3931920" cy="548640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13F0B73-7946-5FB5-99BC-2D13B44DD96A}"/>
              </a:ext>
            </a:extLst>
          </p:cNvPr>
          <p:cNvSpPr/>
          <p:nvPr/>
        </p:nvSpPr>
        <p:spPr>
          <a:xfrm>
            <a:off x="4782312" y="2834640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1D5AD17B-8B99-FDDD-73CB-168F60331B84}"/>
              </a:ext>
            </a:extLst>
          </p:cNvPr>
          <p:cNvSpPr/>
          <p:nvPr/>
        </p:nvSpPr>
        <p:spPr>
          <a:xfrm>
            <a:off x="4782312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3CBAB86-7A14-50F5-495C-6BD64CE600E6}"/>
              </a:ext>
            </a:extLst>
          </p:cNvPr>
          <p:cNvSpPr/>
          <p:nvPr/>
        </p:nvSpPr>
        <p:spPr>
          <a:xfrm>
            <a:off x="5239512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 ✓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22833242-8B0D-B045-E0AE-744705BBFC0A}"/>
              </a:ext>
            </a:extLst>
          </p:cNvPr>
          <p:cNvSpPr/>
          <p:nvPr/>
        </p:nvSpPr>
        <p:spPr>
          <a:xfrm>
            <a:off x="457200" y="340156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53BDE58A-B64E-AFDD-8F84-4812AA440D1A}"/>
              </a:ext>
            </a:extLst>
          </p:cNvPr>
          <p:cNvSpPr/>
          <p:nvPr/>
        </p:nvSpPr>
        <p:spPr>
          <a:xfrm>
            <a:off x="530352" y="34930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76046E0F-B1F5-B6C2-C4FE-9C53E79AF55A}"/>
              </a:ext>
            </a:extLst>
          </p:cNvPr>
          <p:cNvSpPr/>
          <p:nvPr/>
        </p:nvSpPr>
        <p:spPr>
          <a:xfrm>
            <a:off x="53035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B679F8CD-221B-1152-F9B6-C2C304486A38}"/>
              </a:ext>
            </a:extLst>
          </p:cNvPr>
          <p:cNvSpPr/>
          <p:nvPr/>
        </p:nvSpPr>
        <p:spPr>
          <a:xfrm>
            <a:off x="987552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400" dirty="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9C1BA5A1-42EB-8981-31B1-A76389607423}"/>
              </a:ext>
            </a:extLst>
          </p:cNvPr>
          <p:cNvSpPr/>
          <p:nvPr/>
        </p:nvSpPr>
        <p:spPr>
          <a:xfrm>
            <a:off x="4709160" y="3401568"/>
            <a:ext cx="39319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C05BE427-8A5E-46D0-E8DF-C1173585A9B8}"/>
              </a:ext>
            </a:extLst>
          </p:cNvPr>
          <p:cNvSpPr/>
          <p:nvPr/>
        </p:nvSpPr>
        <p:spPr>
          <a:xfrm>
            <a:off x="4782312" y="34930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AFB0A0-8D85-DC03-3118-127A49FA5E7A}"/>
              </a:ext>
            </a:extLst>
          </p:cNvPr>
          <p:cNvSpPr/>
          <p:nvPr/>
        </p:nvSpPr>
        <p:spPr>
          <a:xfrm>
            <a:off x="4782312" y="34930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B14CBE19-62FA-322B-211D-0120C4D5A9D0}"/>
              </a:ext>
            </a:extLst>
          </p:cNvPr>
          <p:cNvSpPr/>
          <p:nvPr/>
        </p:nvSpPr>
        <p:spPr>
          <a:xfrm>
            <a:off x="5239512" y="349300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endParaRPr lang="en-US" sz="14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3651053F-5FBC-AD76-C600-854C8B554B86}"/>
              </a:ext>
            </a:extLst>
          </p:cNvPr>
          <p:cNvSpPr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2FBE"/>
                </a:solidFill>
              </a:rPr>
              <a:t>Answer: B (8)  —  a=1, b=5 (default), c=2 (overridden)  →  1 + 5 + 2 = 8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74280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Scope &amp; Namespace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SCOPE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F3C"/>
                </a:solidFill>
              </a:rPr>
              <a:t>Scope defines WHERE a variable is accessible. Namespace is the mapping of names to objects.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600200"/>
            <a:ext cx="4846320" cy="2606040"/>
          </a:xfrm>
          <a:prstGeom prst="rect">
            <a:avLst/>
          </a:prstGeom>
          <a:solidFill>
            <a:srgbClr val="E8F5E9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828800"/>
            <a:ext cx="4297680" cy="2148840"/>
          </a:xfrm>
          <a:prstGeom prst="rect">
            <a:avLst/>
          </a:prstGeom>
          <a:solidFill>
            <a:srgbClr val="EBF5FB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057400"/>
            <a:ext cx="3749040" cy="1691640"/>
          </a:xfrm>
          <a:prstGeom prst="rect">
            <a:avLst/>
          </a:prstGeom>
          <a:solidFill>
            <a:srgbClr val="FEF9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286000"/>
            <a:ext cx="3200400" cy="1234440"/>
          </a:xfrm>
          <a:prstGeom prst="rect">
            <a:avLst/>
          </a:prstGeom>
          <a:solidFill>
            <a:srgbClr val="FDEDE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404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7AE60"/>
                </a:solidFill>
              </a:rPr>
              <a:t>Built-in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361188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980B9"/>
                </a:solidFill>
              </a:rPr>
              <a:t>Global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960120" y="338328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7E22"/>
                </a:solidFill>
              </a:rPr>
              <a:t>Enclosing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34440" y="233172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74C3C"/>
                </a:solidFill>
              </a:rPr>
              <a:t>Local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11480" y="1627632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F3C"/>
                </a:solidFill>
              </a:rPr>
              <a:t>Python searches L → E → G → B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03520" y="1005840"/>
            <a:ext cx="3566160" cy="31089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1078992"/>
            <a:ext cx="3346704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100   # Global scope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outer():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50    # Enclosing scope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def inner():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10    # Local scope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print(x)  # → 10 (Local)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inner()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print(x)  # → 50 (Enclosing)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outer()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print(x)   # → 100 (Global)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224528"/>
            <a:ext cx="8412480" cy="347472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24281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B6914"/>
                </a:solidFill>
              </a:rPr>
              <a:t>⚠️  Use 'global' keyword to modify a global variable inside a function: global x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Modular Programming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MODULAR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F3C"/>
                </a:solidFill>
              </a:rPr>
              <a:t>Split a large program into small, focused functions — each doing one job well.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✅ Easier to test individual parts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✅ Code reuse across projects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✅ Teams work on different modules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✅ Easier to find and fix bugs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926080"/>
            <a:ext cx="8412480" cy="292608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9260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main()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325880" y="3218688"/>
            <a:ext cx="0" cy="32004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3538728"/>
            <a:ext cx="1920240" cy="384048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3538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get_input()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429000" y="3218688"/>
            <a:ext cx="0" cy="32004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468880" y="3538728"/>
            <a:ext cx="1920240" cy="384048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468880" y="3538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calculate()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532120" y="3218688"/>
            <a:ext cx="0" cy="32004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3538728"/>
            <a:ext cx="1920240" cy="384048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3538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display_result()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635240" y="3218688"/>
            <a:ext cx="0" cy="32004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3538728"/>
            <a:ext cx="1920240" cy="384048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3538728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save_log()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695700" y="746760"/>
            <a:ext cx="5212080" cy="182880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05428" y="819912"/>
            <a:ext cx="49926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get_resistance(V, I):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 / 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get_power(V, I):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V * I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display(V, I):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get_resistance(V, 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 = get_power(V, I)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print(f"R = {R} Ω,  P = {P} W")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display(12, 0.5)   # R = 24.0 Ω,  P = 6.0 W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3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Which of the following is TRUE about modular programming?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490472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4904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Each function should do as many tasks as possible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848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03704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037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Functions cannot call other functions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79806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29169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Modular code is harder to debug than monolithic code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511296"/>
            <a:ext cx="8229600" cy="603504"/>
          </a:xfrm>
          <a:prstGeom prst="rect">
            <a:avLst/>
          </a:prstGeom>
          <a:solidFill>
            <a:schemeClr val="bg1"/>
          </a:solidFill>
          <a:ln w="12700">
            <a:solidFill>
              <a:srgbClr val="B07BD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630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Each function should have a single, clear responsibility  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E8736-092C-65C7-758A-8CD609D25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122CDEC-C8C2-D271-A2AA-98F90311AC6B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0A8AEC7-71ED-BB26-3C1F-05BD917FA6E8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59090D2-5FB2-CB3B-E931-E0816F5D9747}"/>
              </a:ext>
            </a:extLst>
          </p:cNvPr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3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0A012F4-E54D-9A92-D1A8-A47D5DCFCADE}"/>
              </a:ext>
            </a:extLst>
          </p:cNvPr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Which of the following is TRUE about modular programming?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BDC744D-1A60-28EB-3AA1-B1D05673FE1D}"/>
              </a:ext>
            </a:extLst>
          </p:cNvPr>
          <p:cNvSpPr/>
          <p:nvPr/>
        </p:nvSpPr>
        <p:spPr>
          <a:xfrm>
            <a:off x="457200" y="137160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E2C9989A-A61D-2C4D-A07D-84B4D56606E4}"/>
              </a:ext>
            </a:extLst>
          </p:cNvPr>
          <p:cNvSpPr/>
          <p:nvPr/>
        </p:nvSpPr>
        <p:spPr>
          <a:xfrm>
            <a:off x="548640" y="1490472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8E9B65EE-B3A4-27F5-A2F2-362C7DF5D59D}"/>
              </a:ext>
            </a:extLst>
          </p:cNvPr>
          <p:cNvSpPr/>
          <p:nvPr/>
        </p:nvSpPr>
        <p:spPr>
          <a:xfrm>
            <a:off x="548640" y="149047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B717DB4-DEF4-46BA-E12F-7C984CAF6A25}"/>
              </a:ext>
            </a:extLst>
          </p:cNvPr>
          <p:cNvSpPr/>
          <p:nvPr/>
        </p:nvSpPr>
        <p:spPr>
          <a:xfrm>
            <a:off x="1005840" y="149047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Each function should do as many tasks as possible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7752C37-791F-5E15-B5E9-E6E1745B708E}"/>
              </a:ext>
            </a:extLst>
          </p:cNvPr>
          <p:cNvSpPr/>
          <p:nvPr/>
        </p:nvSpPr>
        <p:spPr>
          <a:xfrm>
            <a:off x="457200" y="208483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5635A7E-5D09-FF84-8AD4-02FB99980805}"/>
              </a:ext>
            </a:extLst>
          </p:cNvPr>
          <p:cNvSpPr/>
          <p:nvPr/>
        </p:nvSpPr>
        <p:spPr>
          <a:xfrm>
            <a:off x="548640" y="2203704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E6A0AE9F-CBCC-7BD0-011F-549C4DF8F259}"/>
              </a:ext>
            </a:extLst>
          </p:cNvPr>
          <p:cNvSpPr/>
          <p:nvPr/>
        </p:nvSpPr>
        <p:spPr>
          <a:xfrm>
            <a:off x="548640" y="2203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F41FBD22-8279-36CA-0E7C-E172C6F63C65}"/>
              </a:ext>
            </a:extLst>
          </p:cNvPr>
          <p:cNvSpPr/>
          <p:nvPr/>
        </p:nvSpPr>
        <p:spPr>
          <a:xfrm>
            <a:off x="1005840" y="220370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Functions cannot call other functions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7E77895E-03D2-701E-2B0D-08895E91B5D9}"/>
              </a:ext>
            </a:extLst>
          </p:cNvPr>
          <p:cNvSpPr/>
          <p:nvPr/>
        </p:nvSpPr>
        <p:spPr>
          <a:xfrm>
            <a:off x="457200" y="279806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3FDCB441-29AC-E042-F5FE-87B37E5655D7}"/>
              </a:ext>
            </a:extLst>
          </p:cNvPr>
          <p:cNvSpPr/>
          <p:nvPr/>
        </p:nvSpPr>
        <p:spPr>
          <a:xfrm>
            <a:off x="548640" y="2916936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4283CFA0-70DC-3F01-2B97-EFACD03A991B}"/>
              </a:ext>
            </a:extLst>
          </p:cNvPr>
          <p:cNvSpPr/>
          <p:nvPr/>
        </p:nvSpPr>
        <p:spPr>
          <a:xfrm>
            <a:off x="548640" y="29169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5C4775D1-AE97-5353-2EC3-59917B2132CD}"/>
              </a:ext>
            </a:extLst>
          </p:cNvPr>
          <p:cNvSpPr/>
          <p:nvPr/>
        </p:nvSpPr>
        <p:spPr>
          <a:xfrm>
            <a:off x="1005840" y="291693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Modular code is harder to debug than monolithic code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7AD2039-D585-47C5-9317-08BA8EC7E48F}"/>
              </a:ext>
            </a:extLst>
          </p:cNvPr>
          <p:cNvSpPr/>
          <p:nvPr/>
        </p:nvSpPr>
        <p:spPr>
          <a:xfrm>
            <a:off x="457200" y="3511296"/>
            <a:ext cx="8229600" cy="603504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172168B-B3C4-6CF2-2D4C-FE22E6BD5F6A}"/>
              </a:ext>
            </a:extLst>
          </p:cNvPr>
          <p:cNvSpPr/>
          <p:nvPr/>
        </p:nvSpPr>
        <p:spPr>
          <a:xfrm>
            <a:off x="548640" y="3630168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F05A43C-5C66-2848-4E24-F4B3F0EE7842}"/>
              </a:ext>
            </a:extLst>
          </p:cNvPr>
          <p:cNvSpPr/>
          <p:nvPr/>
        </p:nvSpPr>
        <p:spPr>
          <a:xfrm>
            <a:off x="548640" y="36301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EE4AA1E-1313-4263-646A-8D26CA9C175C}"/>
              </a:ext>
            </a:extLst>
          </p:cNvPr>
          <p:cNvSpPr/>
          <p:nvPr/>
        </p:nvSpPr>
        <p:spPr>
          <a:xfrm>
            <a:off x="1005840" y="3630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Each function should have a single, clear responsibility  ✓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294D1012-023B-F9A6-A39A-ED48D459AD2F}"/>
              </a:ext>
            </a:extLst>
          </p:cNvPr>
          <p:cNvSpPr/>
          <p:nvPr/>
        </p:nvSpPr>
        <p:spPr>
          <a:xfrm>
            <a:off x="457200" y="434340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2FBE"/>
                </a:solidFill>
              </a:rPr>
              <a:t>Answer: D  —  The Single Responsibility Principle — each function does ONE thing well.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8280299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Recursive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RECURSION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D1F3C"/>
                </a:solidFill>
              </a:rPr>
              <a:t>A function that calls itself to solve a smaller version of the same problem.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146304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Two requirements: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801368"/>
            <a:ext cx="3200400" cy="502920"/>
          </a:xfrm>
          <a:prstGeom prst="rect">
            <a:avLst/>
          </a:prstGeom>
          <a:solidFill>
            <a:srgbClr val="FDEDE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801368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4C3C"/>
                </a:solidFill>
              </a:rPr>
              <a:t>1. Base Case — stops the recursion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377440"/>
            <a:ext cx="3200400" cy="502920"/>
          </a:xfrm>
          <a:prstGeom prst="rect">
            <a:avLst/>
          </a:prstGeom>
          <a:solidFill>
            <a:srgbClr val="EBF5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3774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5FA8"/>
                </a:solidFill>
              </a:rPr>
              <a:t>2. Recursive Case — calls itself with smaller input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3840480" cy="1645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044952"/>
            <a:ext cx="362102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factorial(n):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== 0:        # Base case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1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 * factorial(n - 1)  # Recursive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print(factorial(5))  # 120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38912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Call Stack for factorial(4):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801368"/>
            <a:ext cx="438912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26280" y="1801368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factorial(4)  →  4 × factorial(3)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2258568"/>
            <a:ext cx="420624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258568"/>
            <a:ext cx="3931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factorial(3)  →  3 × factorial(2)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0" y="2715768"/>
            <a:ext cx="402336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2715768"/>
            <a:ext cx="3749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factorial(2)  →  2 × factorial(1)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3172968"/>
            <a:ext cx="3840480" cy="40233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3172968"/>
            <a:ext cx="3566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factorial(1)  →  1 × factorial(0)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630168"/>
            <a:ext cx="3657600" cy="402336"/>
          </a:xfrm>
          <a:prstGeom prst="rect">
            <a:avLst/>
          </a:prstGeom>
          <a:solidFill>
            <a:srgbClr val="E8F5E9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92040" y="363016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factorial(0)  →  1  ← BASE CASE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389120" y="431596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5FA8"/>
                </a:solidFill>
              </a:rPr>
              <a:t>Result: 4×3×2×1×1 = 24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Recursion — More Examples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206240" cy="2148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" y="896112"/>
            <a:ext cx="398678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Fibonacci sequence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fib(n):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n &lt;= 1:          # Base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fib(n-1) + fib(n-2)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 in range(8):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print(fib(i), end=" ")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Output: 0 1 1 2 3 5 8 13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108960"/>
            <a:ext cx="4206240" cy="1664208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" y="3182112"/>
            <a:ext cx="398678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Sum of a list using recursion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list_sum(lst):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len(lst) == 0:   # Base case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lst[0] + list_sum(lst[1:])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readings = [12, 25, 8, 44, 6]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print(list_sum(readings))  # 95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92040" y="804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F3C"/>
                </a:solidFill>
              </a:rPr>
              <a:t>Recursion vs Iteration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892040" y="1188720"/>
            <a:ext cx="914400" cy="438912"/>
          </a:xfrm>
          <a:prstGeom prst="rect">
            <a:avLst/>
          </a:prstGeom>
          <a:solidFill>
            <a:srgbClr val="1E5FA8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806440" y="1188720"/>
            <a:ext cx="1508760" cy="438912"/>
          </a:xfrm>
          <a:prstGeom prst="rect">
            <a:avLst/>
          </a:prstGeom>
          <a:solidFill>
            <a:srgbClr val="1A5FA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0" y="1188720"/>
            <a:ext cx="1508760" cy="438912"/>
          </a:xfrm>
          <a:prstGeom prst="rect">
            <a:avLst/>
          </a:prstGeom>
          <a:solidFill>
            <a:srgbClr val="1A5FA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10328" y="1188720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824728" y="118872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Recursion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33488" y="1188720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Iteration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892040" y="1664208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06440" y="1664208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315200" y="1664208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0328" y="1664208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Code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24728" y="166420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Shorter, elegant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333488" y="1664208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More lines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92040" y="2139696"/>
            <a:ext cx="9144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06440" y="2139696"/>
            <a:ext cx="15087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0" y="2139696"/>
            <a:ext cx="15087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10328" y="2139696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Speed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24728" y="213969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Slower (overhead)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333488" y="2139696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Faster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92040" y="2615184"/>
            <a:ext cx="914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06440" y="2615184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0" y="2615184"/>
            <a:ext cx="150876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910328" y="2615184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Memory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824728" y="261518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Stack builds up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7333488" y="2615184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Constant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892040" y="3090672"/>
            <a:ext cx="91440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806440" y="3090672"/>
            <a:ext cx="15087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3090672"/>
            <a:ext cx="1508760" cy="438912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3090672"/>
            <a:ext cx="87782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F3C"/>
                </a:solidFill>
              </a:rPr>
              <a:t>Use when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824728" y="309067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Tree/divide problems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333488" y="3090672"/>
            <a:ext cx="14721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F3C"/>
                </a:solidFill>
              </a:rPr>
              <a:t>Simple loops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92040" y="3639312"/>
            <a:ext cx="3931920" cy="566928"/>
          </a:xfrm>
          <a:prstGeom prst="rect">
            <a:avLst/>
          </a:prstGeom>
          <a:solidFill>
            <a:srgbClr val="FFF8E7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983480" y="3639312"/>
            <a:ext cx="3749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6914"/>
                </a:solidFill>
              </a:rPr>
              <a:t>⚠️  Always define a base case — without it, recursion runs forever (Stack Overflow Error!)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4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happens if a recursive function has NO base case?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81912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5819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returns None automatically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76272"/>
            <a:ext cx="8229600" cy="603504"/>
          </a:xfrm>
          <a:prstGeom prst="rect">
            <a:avLst/>
          </a:prstGeom>
          <a:solidFill>
            <a:schemeClr val="bg1"/>
          </a:solidFill>
          <a:ln w="12700">
            <a:solidFill>
              <a:srgbClr val="B07BD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95144"/>
            <a:ext cx="365760" cy="365760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22951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keeps calling itself until Python raises a </a:t>
            </a:r>
            <a:r>
              <a:rPr lang="en-US" sz="1200" dirty="0" err="1">
                <a:solidFill>
                  <a:srgbClr val="0D1F3C"/>
                </a:solidFill>
              </a:rPr>
              <a:t>RecursionError</a:t>
            </a:r>
            <a:r>
              <a:rPr lang="en-US" sz="1200" dirty="0">
                <a:solidFill>
                  <a:srgbClr val="0D1F3C"/>
                </a:solidFill>
              </a:rPr>
              <a:t> 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88950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008376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" y="3008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runs only once and stops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60273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7216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3721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Python ignores the function call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DEEE11-9F60-7271-5F07-982F76CAD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BBFE49A2-B121-A679-F1E7-D9A5545E0167}"/>
              </a:ext>
            </a:extLst>
          </p:cNvPr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220BCB-F0ED-CD70-B27A-1E1334A552DC}"/>
              </a:ext>
            </a:extLst>
          </p:cNvPr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37E91C7-D988-75DC-60A4-90C084A88179}"/>
              </a:ext>
            </a:extLst>
          </p:cNvPr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4</a:t>
            </a:r>
            <a:endParaRPr lang="en-US"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07321CF-B6EF-EAB5-959A-F05F9BC38DD1}"/>
              </a:ext>
            </a:extLst>
          </p:cNvPr>
          <p:cNvSpPr/>
          <p:nvPr/>
        </p:nvSpPr>
        <p:spPr>
          <a:xfrm>
            <a:off x="548640" y="7772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What happens if a recursive function has NO base case?</a:t>
            </a:r>
            <a:endParaRPr lang="en-US" sz="15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CF1F2DC-3866-E8A9-7E43-D2BE5988ED2C}"/>
              </a:ext>
            </a:extLst>
          </p:cNvPr>
          <p:cNvSpPr/>
          <p:nvPr/>
        </p:nvSpPr>
        <p:spPr>
          <a:xfrm>
            <a:off x="457200" y="146304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242D5BA3-F02E-4022-CCD8-458ECA055F06}"/>
              </a:ext>
            </a:extLst>
          </p:cNvPr>
          <p:cNvSpPr/>
          <p:nvPr/>
        </p:nvSpPr>
        <p:spPr>
          <a:xfrm>
            <a:off x="548640" y="1581912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17D30F4-C902-D78C-6D44-64C5B92411EB}"/>
              </a:ext>
            </a:extLst>
          </p:cNvPr>
          <p:cNvSpPr/>
          <p:nvPr/>
        </p:nvSpPr>
        <p:spPr>
          <a:xfrm>
            <a:off x="548640" y="1581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</a:t>
            </a:r>
            <a:endParaRPr lang="en-US" sz="12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27C787E-2F3E-92E4-CEA7-FBAF5FDA3EBC}"/>
              </a:ext>
            </a:extLst>
          </p:cNvPr>
          <p:cNvSpPr/>
          <p:nvPr/>
        </p:nvSpPr>
        <p:spPr>
          <a:xfrm>
            <a:off x="1005840" y="158191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returns None automatically</a:t>
            </a:r>
            <a:endParaRPr lang="en-US" sz="12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D9FE47B2-6CD1-A63E-CECE-684435BB0494}"/>
              </a:ext>
            </a:extLst>
          </p:cNvPr>
          <p:cNvSpPr/>
          <p:nvPr/>
        </p:nvSpPr>
        <p:spPr>
          <a:xfrm>
            <a:off x="457200" y="2176272"/>
            <a:ext cx="8229600" cy="603504"/>
          </a:xfrm>
          <a:prstGeom prst="rect">
            <a:avLst/>
          </a:prstGeom>
          <a:solidFill>
            <a:srgbClr val="E8F5E9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011D2F1-DD3A-15CC-0811-A76252DBADF8}"/>
              </a:ext>
            </a:extLst>
          </p:cNvPr>
          <p:cNvSpPr/>
          <p:nvPr/>
        </p:nvSpPr>
        <p:spPr>
          <a:xfrm>
            <a:off x="548640" y="2295144"/>
            <a:ext cx="365760" cy="3657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566CD36-24CE-473C-69EA-F59EB04FD504}"/>
              </a:ext>
            </a:extLst>
          </p:cNvPr>
          <p:cNvSpPr/>
          <p:nvPr/>
        </p:nvSpPr>
        <p:spPr>
          <a:xfrm>
            <a:off x="54864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B</a:t>
            </a:r>
            <a:endParaRPr lang="en-US" sz="12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77450B5C-28D8-130D-D36F-13B73739E048}"/>
              </a:ext>
            </a:extLst>
          </p:cNvPr>
          <p:cNvSpPr/>
          <p:nvPr/>
        </p:nvSpPr>
        <p:spPr>
          <a:xfrm>
            <a:off x="1005840" y="2295144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keeps calling itself until Python raises a RecursionError  ✓</a:t>
            </a:r>
            <a:endParaRPr lang="en-US" sz="12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E7C1F40-E316-C7FA-6294-38395EBCE98C}"/>
              </a:ext>
            </a:extLst>
          </p:cNvPr>
          <p:cNvSpPr/>
          <p:nvPr/>
        </p:nvSpPr>
        <p:spPr>
          <a:xfrm>
            <a:off x="457200" y="288950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711AD53F-B91E-A64F-C7B5-3D3782124FA0}"/>
              </a:ext>
            </a:extLst>
          </p:cNvPr>
          <p:cNvSpPr/>
          <p:nvPr/>
        </p:nvSpPr>
        <p:spPr>
          <a:xfrm>
            <a:off x="548640" y="3008376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B05F90E7-26DF-0E6A-2E62-7340105B2F61}"/>
              </a:ext>
            </a:extLst>
          </p:cNvPr>
          <p:cNvSpPr/>
          <p:nvPr/>
        </p:nvSpPr>
        <p:spPr>
          <a:xfrm>
            <a:off x="548640" y="300837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</a:t>
            </a:r>
            <a:endParaRPr lang="en-US" sz="1200" dirty="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0B1F971-30C0-82E4-1710-AA6DB92FA77B}"/>
              </a:ext>
            </a:extLst>
          </p:cNvPr>
          <p:cNvSpPr/>
          <p:nvPr/>
        </p:nvSpPr>
        <p:spPr>
          <a:xfrm>
            <a:off x="1005840" y="3008376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It runs only once and stops</a:t>
            </a:r>
            <a:endParaRPr lang="en-US" sz="12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3F8FC0CE-ABBD-00C4-B75D-C33745678229}"/>
              </a:ext>
            </a:extLst>
          </p:cNvPr>
          <p:cNvSpPr/>
          <p:nvPr/>
        </p:nvSpPr>
        <p:spPr>
          <a:xfrm>
            <a:off x="457200" y="360273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1FE976D-7141-5373-7074-6B027E470D8D}"/>
              </a:ext>
            </a:extLst>
          </p:cNvPr>
          <p:cNvSpPr/>
          <p:nvPr/>
        </p:nvSpPr>
        <p:spPr>
          <a:xfrm>
            <a:off x="548640" y="3721608"/>
            <a:ext cx="365760" cy="365760"/>
          </a:xfrm>
          <a:prstGeom prst="ellipse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DBF21013-89E1-92D6-CDEA-4CB24C19BFCE}"/>
              </a:ext>
            </a:extLst>
          </p:cNvPr>
          <p:cNvSpPr/>
          <p:nvPr/>
        </p:nvSpPr>
        <p:spPr>
          <a:xfrm>
            <a:off x="548640" y="37216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D</a:t>
            </a: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FA1DF097-E869-5CA9-D5AD-F351A537A23C}"/>
              </a:ext>
            </a:extLst>
          </p:cNvPr>
          <p:cNvSpPr/>
          <p:nvPr/>
        </p:nvSpPr>
        <p:spPr>
          <a:xfrm>
            <a:off x="1005840" y="372160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D1F3C"/>
                </a:solidFill>
              </a:rPr>
              <a:t>Python ignores the function call</a:t>
            </a:r>
            <a:endParaRPr lang="en-US" sz="1200" dirty="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C0DE7857-B365-E366-488F-4517A6C30671}"/>
              </a:ext>
            </a:extLst>
          </p:cNvPr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7B2FBE"/>
                </a:solidFill>
              </a:rPr>
              <a:t>Answer: B  —  Python limits recursion depth (~1000 calls) and then raises RecursionError.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7189103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Bonus: Lambda &amp; Higher-Order Functions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5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F3C"/>
                </a:solidFill>
              </a:rPr>
              <a:t>ADVANCED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65760" y="1024128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0D1F3C"/>
                </a:solidFill>
              </a:rPr>
              <a:t>Lambda = small anonymous function written in one line. Higher-order functions take functions as arguments.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4206240" cy="173736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581912"/>
            <a:ext cx="3986784" cy="1591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Lambda syntax:  lambda args : expression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square = lambda x: x ** 2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print(square(7))         # 49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Regular equivalent: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square(x):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** 2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663440" y="1508760"/>
            <a:ext cx="4206240" cy="2148840"/>
          </a:xfrm>
          <a:prstGeom prst="rect">
            <a:avLst/>
          </a:prstGeom>
          <a:solidFill>
            <a:srgbClr val="1A2744"/>
          </a:solidFill>
          <a:ln w="12700">
            <a:solidFill>
              <a:srgbClr val="2D4A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73168" y="1581912"/>
            <a:ext cx="398678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map() — apply to every element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voltages = [1.2, 2.4, 3.6, 4.8]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list(map(lambda v: v*2, voltages))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print(doubled)  # [2.4, 4.8, 7.2, 9.6]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filter() — keep elements that pass test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above3 = list(filter(lambda v: v&gt;3, voltages))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print(above3)   # [3.6, 4.8]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337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When to use lambda: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3657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</a:rPr>
              <a:t>Short, one-time operations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</a:rPr>
              <a:t>Passing a function as argument (map, filter, sort)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0D1F3C"/>
                </a:solidFill>
              </a:rPr>
              <a:t>Avoid writing a full def for tiny logic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3749040"/>
            <a:ext cx="4206240" cy="685800"/>
          </a:xfrm>
          <a:prstGeom prst="rect">
            <a:avLst/>
          </a:prstGeom>
          <a:solidFill>
            <a:srgbClr val="E8F0FB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3767328"/>
            <a:ext cx="402336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💡 Engineering use: process sensor data arrays quickly without writing a full loop function.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7315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Summary — What We Covered Today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8412480" cy="67665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749808"/>
            <a:ext cx="502920" cy="67665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749808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7955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Built-in Functions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097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print, len, type, range, math module — ready to use, no coding needed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5760" y="1536192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36192"/>
            <a:ext cx="502920" cy="67665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536192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15819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User-Defined Functions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60120" y="18836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def keyword, parameters, default args, *args, return values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8412480" cy="67665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322576"/>
            <a:ext cx="502920" cy="67665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322576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2368296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Scope &amp; Namespace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267004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LEGB rule — Python searches Local → Enclosing → Global → Built-in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8412480" cy="676656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108960"/>
            <a:ext cx="502920" cy="67665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108960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315468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Modular Programs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60120" y="345643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Split programs into focused functions — easier to test, reuse, and maintain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65760" y="3895344"/>
            <a:ext cx="8412480" cy="676656"/>
          </a:xfrm>
          <a:prstGeom prst="rect">
            <a:avLst/>
          </a:prstGeom>
          <a:solidFill>
            <a:srgbClr val="F0F4FA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3895344"/>
            <a:ext cx="502920" cy="676656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895344"/>
            <a:ext cx="5029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60120" y="394106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F3C"/>
                </a:solidFill>
              </a:rPr>
              <a:t>Recursive Functions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60120" y="424281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99"/>
                </a:solidFill>
              </a:rPr>
              <a:t>Base case + Recursive case — factorial, Fibonacci, list operations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"/>
            <a:ext cx="8412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🧠  QUIZ TIME  —  Question 5  —  Final Round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7B2FBE"/>
                </a:solidFill>
              </a:rPr>
              <a:t>Match the concept to its definition: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801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def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8288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return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37744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3774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LEGB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9260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Base case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474720"/>
            <a:ext cx="20116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474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lambda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28016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0" y="1280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A. Anonymous one-line function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82880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8288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B. Order Python searches for variable names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389120" y="237744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80560" y="23774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C. Stops recursion from running forever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389120" y="292608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80560" y="2926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D. Keyword to declare a function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89120" y="3474720"/>
            <a:ext cx="448056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4AE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80560" y="34747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F3C"/>
                </a:solidFill>
              </a:rPr>
              <a:t>E. Sends a value back to the caller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8412480" cy="530352"/>
          </a:xfrm>
          <a:prstGeom prst="rect">
            <a:avLst/>
          </a:prstGeom>
          <a:solidFill>
            <a:srgbClr val="FFFFFF"/>
          </a:solidFill>
          <a:ln w="25400">
            <a:solidFill>
              <a:srgbClr val="7B2F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78808"/>
            <a:ext cx="82296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2FB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Answers: 1→D   2→E   3→B   4→C   5→A</a:t>
            </a:r>
            <a:endParaRPr lang="en-US" sz="14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F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1E5FA8"/>
          </a:solidFill>
          <a:ln w="12700">
            <a:solidFill>
              <a:srgbClr val="1E5F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828800" cy="5143500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0" y="6400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</a:t>
            </a:r>
            <a:endParaRPr lang="en-US" sz="5600" dirty="0"/>
          </a:p>
          <a:p>
            <a:pPr marL="0" indent="0">
              <a:buNone/>
            </a:pPr>
            <a:r>
              <a:rPr lang="en-US" sz="5600" b="1" dirty="0">
                <a:solidFill>
                  <a:srgbClr val="FFFFFF"/>
                </a:solidFill>
              </a:rPr>
              <a:t>You!</a:t>
            </a:r>
            <a:endParaRPr lang="en-US" sz="5600" dirty="0"/>
          </a:p>
        </p:txBody>
      </p:sp>
      <p:sp>
        <p:nvSpPr>
          <p:cNvPr id="5" name="Shape 3"/>
          <p:cNvSpPr/>
          <p:nvPr/>
        </p:nvSpPr>
        <p:spPr>
          <a:xfrm>
            <a:off x="3657600" y="2331720"/>
            <a:ext cx="41148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0" y="246888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8C4E8"/>
                </a:solidFill>
              </a:rPr>
              <a:t>Python Functions — Lecture Complete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0" y="30175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</a:rPr>
              <a:t>Practice Problems: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3383280"/>
            <a:ext cx="5212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Write a function to find the area of a triangle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Write recursive function to compute sum of digits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Create a module with functions for Ohm's law calculations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</a:rPr>
              <a:t>Use map() to convert a list of angles from deg to radians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2293</Words>
  <Application>Microsoft Office PowerPoint</Application>
  <PresentationFormat>On-screen Show (16:9)</PresentationFormat>
  <Paragraphs>435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Functions</dc:title>
  <dc:subject>PptxGenJS Presentation</dc:subject>
  <dc:creator>PptxGenJS</dc:creator>
  <cp:lastModifiedBy>Tumpa Banerjee</cp:lastModifiedBy>
  <cp:revision>2</cp:revision>
  <dcterms:created xsi:type="dcterms:W3CDTF">2026-05-11T17:15:17Z</dcterms:created>
  <dcterms:modified xsi:type="dcterms:W3CDTF">2026-05-13T17:05:27Z</dcterms:modified>
</cp:coreProperties>
</file>